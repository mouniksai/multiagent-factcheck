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Calibri"/>
              </a:defRPr>
            </a:pPr>
            <a:r>
              <a:t>FOUNDATIONS OF ARTIFICIAL INTELLIGENCE</a:t>
            </a:r>
          </a:p>
          <a:p>
            <a:pPr>
              <a:defRPr sz="3200" b="1">
                <a:solidFill>
                  <a:srgbClr val="111827"/>
                </a:solidFill>
                <a:latin typeface="Calibri"/>
              </a:defRPr>
            </a:pPr>
            <a:r>
              <a:t>Aletheia: Dialectical Multi-Agent Fact-Checking</a:t>
            </a:r>
          </a:p>
          <a:p>
            <a:pPr>
              <a:defRPr sz="1400">
                <a:solidFill>
                  <a:srgbClr val="4B5563"/>
                </a:solidFill>
                <a:latin typeface="Calibri"/>
              </a:defRPr>
            </a:pPr>
            <a:r>
              <a:t>Adversarial RAG, Epistemic Calibration, and Citation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474720"/>
            <a:ext cx="3200400" cy="182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827"/>
                </a:solidFill>
                <a:latin typeface="Calibri"/>
              </a:defRPr>
            </a:pPr>
            <a:r>
              <a:t>Presented by:</a:t>
            </a:r>
          </a:p>
          <a:p>
            <a:pPr>
              <a:defRPr sz="1150">
                <a:solidFill>
                  <a:srgbClr val="4B5563"/>
                </a:solidFill>
                <a:latin typeface="Calibri"/>
              </a:defRPr>
            </a:pPr>
            <a:r>
              <a:t>Team AI Fact-Checkers</a:t>
            </a:r>
            <a:br/>
            <a:r>
              <a:t>[Student Name 1] — [Roll No]</a:t>
            </a:r>
            <a:br/>
            <a:r>
              <a:t>[Student Name 2] — [Roll No]</a:t>
            </a:r>
            <a:br/>
            <a:r>
              <a:t>[Student Name 3] — [Roll No]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SYSTEM OVERVIEW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Multi-Agent RAG for Reliable Claim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A multi-agent Retrieval-Augmented Generation (RAG) system designed to verify factual claims using live empirical web evidence.</a:t>
            </a:r>
          </a:p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The system first decomposes complex assertions into smaller atomic sub-claims, eliminating multi-hop retrieval errors and query ambiguity.</a:t>
            </a:r>
          </a:p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PRO and CON agents independently execute stance-conditioned web retrieval to discover evidence and engage in an adversarial debate across iterative rounds.</a:t>
            </a:r>
          </a:p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An impartial Cross-Examiner agent audits debater turns for formal reasoning fallacies and isolates empirical consensus from active points of contention.</a:t>
            </a:r>
          </a:p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A Citation Guardrail verifies that every cited evidence ID corresponds strictly to a verified record in the shared evidence pool before arbitration.</a:t>
            </a:r>
          </a:p>
          <a:p>
            <a:pPr>
              <a:spcAft>
                <a:spcPts val="1400"/>
              </a:spcAft>
              <a:defRPr sz="1350">
                <a:solidFill>
                  <a:srgbClr val="111827"/>
                </a:solidFill>
                <a:latin typeface="Calibri"/>
              </a:defRPr>
            </a:pPr>
            <a:r>
              <a:t>•  An independent Supreme Judge analyzes verified evidence and domain credibility to output an epistemically calibrated verdict with explicit uncertainty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1: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PEAS Formulation: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2103120"/>
                <a:gridCol w="219456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Performance Measure (P)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Environment (E)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Actuators (A)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Sensors (S)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Claim Normalizer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Sub-claim atomicity, precision, logical independence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Raw/unstructured claims text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Decomposed sub-claims list (JSON)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User claim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 Debater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Evidence relevance, citation precision, domain authority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Live Web, debate transcript history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Supporting queries &amp; arguments [Ex]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Search results, evidence pool, CON arguments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CON Debater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Counter-evidence rigor, refutation validity, 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Live Web, debate transcript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Refuting queries &amp; arguments [Ex]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Search results, evidence pool, PRO arguments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Cross-Examiner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Fallacy detection rate, dialectical synthesis neutrality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Full multi-turn debate history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Consensus/contention map, audit report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Debater turns, citation mapping, pool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Citation Guardrail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100% citation validation, 0% hallucination 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Evidence registry &amp; debate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Verification report, discount warnings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Citation tags [E1], [E2], evidence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Supreme Judge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Verdict accuracy, epistemic calibration, nuance preservation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Full debate + verified evidence pool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TRUE / FALSE / UNVERIFIABLE + rationale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Debate transcript, evidence, audit reports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1: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Environment &amp; Agent Analysis: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8952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Our Implementation &amp; Formal Rationale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Stochastic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Web retrieval latencies and LLM responses can vary between executions; temperature-conditioned sampling is non-deterministic.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Partially Observable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Each debater initially observes only its own retrieved evidence prior to synchronization into the shared evidence pool.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Sequential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Each debate round depends conditionally on previous PRO and CON arguments, building a stateful dialectic over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Dynamic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Live web content and empirical evidence continuously change as new clinical trials and news emerge.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Multi-Agent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Multiple specialized agents collaborate (Normalizer, Guardrail) and compete (PRO vs. CON) during factual verification.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Mixed Cooperative–Competitive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 and CON compete adversarially to stress-test claims, while Cross-Examiner and Judge cooperate toward truth.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Discrete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State transitions operate over discrete token sequences, debate rounds, numbered citations, and categorical verdicts.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2: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Multi-Agent Architecture &amp; System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5029200"/>
              </a:tblGrid>
              <a:tr h="52251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Interaction &amp; Coordination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Claim Normalizer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Breaks complex claim into atomic sub-claims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Sends normalized sub-claims to PRO and CON debaters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 Debater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Discovers supporting empirical evidence via search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Challenges CON arguments; registers supporting citations [Ex]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CON Debater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Discovers refuting empirical counter-evidence via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Challenges PRO arguments; registers refuting citations [Ex]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Cross-Examiner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Audits reasoning fallacies &amp; dialectical synthesis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Extracts points of consensus vs. contention for Supreme Judge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Citation Guardrail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Validates 100% of cited evidence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Checks debate text tags against evidence registry keys; flags hallucinated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Supreme Judge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Makes final evidence-grounded calibrated decision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Produces categorical verdict + confidence score + uncertainty note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Calibri"/>
              </a:defRPr>
            </a:pPr>
            <a:r>
              <a:t>System Flow:  Claim  ➔  Normalize  ➔  [PRO ⟷ CON Debate Loop]  ➔  Cross-Examine  ➔  Verify Citations  ➔  Judge  ➔  Calibrated Verdict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1: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Algorithmic Modeling &amp; Search Strategy: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5303520"/>
              </a:tblGrid>
              <a:tr h="5715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Algorithm / Technique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Purpose &amp; Guarantee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Claim Decomposition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Atomic Sub-Claim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Breaks complex claims into 1–3 independent claims to prevent multi-hop retrieval errors.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Query Generation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Stance-Conditioned Reformulation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Generates separate polarized PRO and CON search queries to ensure balanced evidence retrieval.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Information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Hybrid Search (BM25 + FAISS Dense + RRF)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Combines sparse lexical matching and dense vector similarity using Reciprocal Rank Fusion (c=60).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Source Credibility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Epistemic Authority Scorer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Calculates domain reliability weights (Tier-1 Journals, Government .gov, Tier-2 Wire News vs. Blogs).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Adversarial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Cyclic StateGraph (LangGraph)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Allows PRO ⟷ CON debate across multiple rounds with state persistence.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Citation Verification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Evidence-ID Validation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Checks [E1], [E2], etc. against the evidence pool, ensuring zero hallucinated citations.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Final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Calibrated Epistemic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Produces TRUE, FALSE, or UNVERIFIABLE with hedged confidence for genuinely ambiguous claims.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2: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Tool/Package: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589520"/>
              </a:tblGrid>
              <a:tr h="4156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Tool / Package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Purpose in the Project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Python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Core programming language for the multi-agent system, typing, and benchmarking.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Builds the cyclic multi-agent debate and cross-examination workflow using StateGraph.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Groq LPU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Provides fast LLM inference for the PRO/CON debater agents and the Supreme Judge model.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Tavily &amp; DDGS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Performs live web search with multi-tier fallback resilience for factual empirical evidence.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FAISS &amp;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Vector-based similarity search and cosine matrix indexing in the hybrid retrieval module.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Rank-BM25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Computes sparse lexical retrieval scores for exact medical and scientific keyword matching.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Provides the interactive multi-tab web interface for claim verification and benchmark display.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python-dotenv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Loads API keys and runtime configuration from .env securely.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Pydantic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Structured schema validation of agent state data and JSON outputs.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Unit and graph-level testing suite verifying claim decomposition, guardrails, and graph execution.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2: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Multi-Agent Execution &amp; Interaction: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1. Input &amp; Normalization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Raw claim is decomposed into atomic sub-claims by Claim Normalizer.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2. Adversarial Debate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PRO and CON debaters iteratively retrieve live web evidence in rounds.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164592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39" y="17373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3. Dialectical Audit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Cross-Examiner checks reasoning fallacies and isolates empirical contention.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0896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00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4. Citation Guardrail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Deterministic regex verifies [Ex] tags against the active evidence registry.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10896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5. Epistemic Arbitration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Supreme Judge weighs source authority and evidence balance.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3108960"/>
            <a:ext cx="338328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39" y="32004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6. Calibrated Verdict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Final categorical verdict + confidence score + explicit uncertainty note.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1827"/>
                </a:solidFill>
                <a:latin typeface="Calibri"/>
              </a:defRPr>
            </a:pPr>
            <a:r>
              <a:t>Key Architectural Benefits &amp; Implementation Highlights: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  <a:latin typeface="Calibri"/>
              </a:defRPr>
            </a:pPr>
            <a:r>
              <a:t>•  Modular Multi-Agent Architecture: StateGraph allows cyclic debate turns with state persistence across rounds without context loss.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  <a:latin typeface="Calibri"/>
              </a:defRPr>
            </a:pPr>
            <a:r>
              <a:t>•  Dialectical Triad: Thesis (PRO) + Antithesis (CON) + Synthesis (Cross-Examiner) prevents confirmation bias common in single-agent LLMs.</a:t>
            </a:r>
          </a:p>
          <a:p>
            <a:pPr>
              <a:spcAft>
                <a:spcPts val="400"/>
              </a:spcAft>
              <a:defRPr sz="1100">
                <a:solidFill>
                  <a:srgbClr val="4B5563"/>
                </a:solidFill>
                <a:latin typeface="Calibri"/>
              </a:defRPr>
            </a:pPr>
            <a:r>
              <a:t>•  Deterministic Citation Guardrail: Guarantees zero hallucinated evidence by rejecting ungrounded citation tags prior to judicial arbitration.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6B7280"/>
                </a:solidFill>
                <a:latin typeface="Calibri"/>
              </a:defRPr>
            </a:pPr>
            <a:r>
              <a:t>REVIEW 2: 3 MARKS</a:t>
            </a:r>
          </a:p>
          <a:p>
            <a:pPr>
              <a:defRPr sz="2400" b="1">
                <a:solidFill>
                  <a:srgbClr val="111827"/>
                </a:solidFill>
                <a:latin typeface="Calibri"/>
              </a:defRPr>
            </a:pPr>
            <a:r>
              <a:t>Output: Demo Quality &amp; Testing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1051560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3657600"/>
                <a:gridCol w="1097280"/>
                <a:gridCol w="1188720"/>
                <a:gridCol w="914400"/>
                <a:gridCol w="91440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Claim Statement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Output Verdict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Guardrail Status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Clear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The Great Wall of China is visible from space with the naked eye.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Clean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Clear True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Regular exercise reduces the risk of cardiovascular disease.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Clean (100%)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Ambiguous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Moderate coffee consumption increases the risk of heart disease.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UNVERIFIABLE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UNVERIFIABLE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Clean (Hedged)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Misleading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Global average temperature increase of 1.5C has no impact on weather.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Clean (100%)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Time-Sensitive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Global lithium ion battery production volume doubled in 24 months.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UNVERIFIABLE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UNVERIFIABLE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4B5563"/>
                          </a:solidFill>
                          <a:latin typeface="Calibri"/>
                        </a:defRPr>
                      </a:pPr>
                      <a:r>
                        <a:t>Clean (Hedged)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1827"/>
                </a:solidFill>
                <a:latin typeface="Calibri"/>
              </a:defRPr>
            </a:pPr>
            <a:r>
              <a:t>Empirical Validation &amp; Calibration Notes: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• 100% Benchmark Pass Rate: All 5 canonical test categories correctly reproduce ground-truth expectations across diverse domains.</a:t>
            </a:r>
          </a:p>
          <a:p>
            <a:pPr>
              <a:defRPr sz="1050">
                <a:solidFill>
                  <a:srgbClr val="4B5563"/>
                </a:solidFill>
                <a:latin typeface="Calibri"/>
              </a:defRPr>
            </a:pPr>
            <a:r>
              <a:t>• Epistemic Nuance Calibration: Genuinely ambiguous or contested claims (e.g., coffee dosage, market statistics) do not collapse into binary True/False; confidence is calibrated to 55–62% with an explicit Uncertainty Advisory Note.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